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>
    <p:present>
      <p:showAnimation/>
    </p:present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61326"/>
          </a:solidFill>
          <a:ln w="12700">
            <a:solidFill>
              <a:srgbClr val="0613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8368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Underwater Glider Navigation · IEEE JOE 2025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面向无人测绘的自主水下滑翔机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改进机载导航，支持无人测绘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Autonomous Underwater Glider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Improved Onboard Navigation for Unattended Mapping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C7E6"/>
                </a:solidFill>
              </a:rPr>
              <a:t>IEEE Journal of Oceanic Engineering · 50(3) · July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26680" y="1325880"/>
            <a:ext cx="3383280" cy="3383280"/>
          </a:xfrm>
          <a:prstGeom prst="arc">
            <a:avLst/>
          </a:prstGeom>
          <a:noFill/>
          <a:ln w="63500">
            <a:solidFill>
              <a:srgbClr val="2D78B8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1783080"/>
            <a:ext cx="2468880" cy="2468880"/>
          </a:xfrm>
          <a:prstGeom prst="arc">
            <a:avLst/>
          </a:prstGeom>
          <a:noFill/>
          <a:ln w="38100">
            <a:solidFill>
              <a:srgbClr val="D8B4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8FC"/>
                </a:solidFill>
              </a:rPr>
              <a:t>AUG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D78B8"/>
          </a:solidFill>
          <a:ln w="12700">
            <a:solidFill>
              <a:srgbClr val="2D7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423367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自主导航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4160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423367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无人测绘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4160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76C893"/>
          </a:solidFill>
          <a:ln w="12700">
            <a:solidFill>
              <a:srgbClr val="76C8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423367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低功耗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source-facts.source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论文信息与作者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IEEE JOE 50(3), July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835640" cy="4526280"/>
          </a:xfrm>
          <a:prstGeom prst="roundRect">
            <a:avLst>
              <a:gd name="adj" fmla="val 1616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996696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DOI: 10.1109/JOE.2025.3538925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Amy Phung; Gideon Billings; Gregory Burgess; Richard Camilli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MIT-WHOI, WHOI, University of Sydney affiliations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983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C7E6"/>
                </a:solidFill>
              </a:rPr>
              <a:t>Paper identity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source-facts.source; source-facts.authors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研究背景与场景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低功耗滑翔机需要可靠导航和测绘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AUG 支持长航时、低扰动测绘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测试地点包括 Puerto Rico、Buzzards Bay 与 Beaufort Sea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导航估计同时服务海底测深和冰面测绘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5806440" cy="4114800"/>
          </a:xfrm>
          <a:prstGeom prst="roundRect">
            <a:avLst>
              <a:gd name="adj" fmla="val 1778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长航时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45864" y="274320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388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低扰动测绘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88224" y="274320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1624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68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多场景验证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source-facts.experimental_locations; paper introduction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水下导航挑战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水下无 GPS 使航位推算误差累积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潜航阶段无法直接使用 GPS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Frontseat 内部估计会累积位置误差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融合 DVL、AHRS 与 CTD 观测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5806440" cy="4114800"/>
          </a:xfrm>
          <a:prstGeom prst="roundRect">
            <a:avLst>
              <a:gd name="adj" fmla="val 1778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无 GPS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45864" y="274320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388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误差累积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88224" y="274320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1624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68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多传感器融合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paper introduction and navigation sections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目标与贡献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以 DVL-Odo 与 BSD/BMC 改进机载导航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在 Raspberry Pi 4 BSD 上运行改进导航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提供 DVL-Odo 里程计与 BMC 航点修正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比较 Frontseat 与 BMC 引导任务的误差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在热带和北极试验中验证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5806440" cy="4114800"/>
          </a:xfrm>
          <a:prstGeom prst="roundRect">
            <a:avLst>
              <a:gd name="adj" fmla="val 1778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DVL-Odo 里程计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45864" y="274320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388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BSD 后座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88224" y="274320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16240" y="2560320"/>
            <a:ext cx="350520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680" y="278892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BMC 航点修正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paper abstract, methods, experiments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ROS 传感器 -&gt; BSD 导航 -&gt; 任务控制 -&gt; Frontseat/飞控计算机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470916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驱动发布 CTD、DVL、AHRS、MSIS 与 Frontseat 主题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BSD 后座导航估计状态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任务控制器发布飞行指令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32588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346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CTD / DVL / AHRS / MSIS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5274" y="30175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63290" y="28346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4730" y="30632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BSD 后座导航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67044" y="30175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5060" y="28346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30632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任务控制器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98814" y="30175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26830" y="28346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8270" y="30632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Frontseat / 飞控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Fig. 3 (p.5)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DVL-Odo 导航流程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DVL 速度与姿态组成水下里程计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470916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DVL 测量相对速度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AHRS 提供姿态与航向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BSD 融合观测并输出实时状态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导航与声纳合计功耗低于 15 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32588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DVL 速度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527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63290" y="201168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4730" y="224028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AHRS 姿态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6704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5060" y="201168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224028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BSD 融合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9881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26830" y="201168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8270" y="224028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实时状态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80760" y="3977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&lt; 15 W navigation + sonar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DVL-Odo method; abstract/introduction (&lt;15 W)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BMC 航点修正：carrot following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BMC 根据后座估计向 Frontseat 发送更新航点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Frontseat 按原任务序列运行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BMC 根据后座导航估计更新航点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发生中止时触发冰下上浮行为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6126480" cy="4892040"/>
          </a:xfrm>
          <a:prstGeom prst="roundRect">
            <a:avLst>
              <a:gd name="adj" fmla="val 1495"/>
            </a:avLst>
          </a:prstGeom>
          <a:solidFill>
            <a:srgbClr val="0B223C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pic>
        <p:nvPicPr>
          <p:cNvPr id="7" name="Image 0" descr="D:\Desktop\digital twin\.superpowers\sdd\paper-ppt-assets\fig_bm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585216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5742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ED3"/>
                </a:solidFill>
              </a:rPr>
              <a:t>Fig. 5 (p.6)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Fig. 5 (p.6)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实验平台与传感器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BSD 集成 CTD、DVL、AHRS 与 MSIS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470916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Raspberry Pi 4 后座计算机（BSD）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Sea-Bird CTD；Teledyne RDI Pathfinder 600-kHz DVL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Sparton M2 AHRS；700-kHz Tritech MSIS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32588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691640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2D78B8"/>
          </a:solidFill>
          <a:ln w="12700">
            <a:solidFill>
              <a:srgbClr val="2D7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64792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Raspberry Pi 4 BSD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350008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63C7E6"/>
          </a:solidFill>
          <a:ln w="12700">
            <a:solidFill>
              <a:srgbClr val="63C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2423160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Sea-Bird CTD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3008376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3081528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600-kHz DVL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3666744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76C893"/>
          </a:solidFill>
          <a:ln w="12700">
            <a:solidFill>
              <a:srgbClr val="76C8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3739896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Sparton M2 AHRS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4325112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5A7CC2"/>
          </a:solidFill>
          <a:ln w="12700">
            <a:solidFill>
              <a:srgbClr val="5A7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4398264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</a:rPr>
              <a:t>700-kHz MSIS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source-facts.sensors_and_compute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Puerto Rico 海底测绘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DVL/MSIS 测深与 NOAA LiDAR 进行对比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测区包括 La Paguera 沿岸和 Cabo Rojo 陆架断裂带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参考底图为 2015 NOAA NGS Topobathy LiDAR（网格 2 m）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Fig. 8 展示深度剖面与差值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6126480" cy="4892040"/>
          </a:xfrm>
          <a:prstGeom prst="roundRect">
            <a:avLst>
              <a:gd name="adj" fmla="val 1495"/>
            </a:avLst>
          </a:prstGeom>
          <a:solidFill>
            <a:srgbClr val="0B223C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pic>
        <p:nvPicPr>
          <p:cNvPr id="7" name="Image 0" descr="D:\Desktop\digital twin\.superpowers\sdd\paper-ppt-assets\fig_bathy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585216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5742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ED3"/>
                </a:solidFill>
              </a:rPr>
              <a:t>Fig. 8 (p.8); source-facts.experimental_locations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Fig. 8 (p.8); source-facts.experimental_locations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北极冰下同步测绘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DVL 测绘海底，MSIS 识别海面浮冰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地点为 Beaufort Sea 边缘冰区（Prudhoe Bay 东北）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MSIS 以 +/-10 deg 向上扫描，航迹约 1.3 km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与 IBCAO 4.2.13（200 m 网格）进行对比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6126480" cy="4892040"/>
          </a:xfrm>
          <a:prstGeom prst="roundRect">
            <a:avLst>
              <a:gd name="adj" fmla="val 1495"/>
            </a:avLst>
          </a:prstGeom>
          <a:solidFill>
            <a:srgbClr val="0B223C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pic>
        <p:nvPicPr>
          <p:cNvPr id="7" name="Image 0" descr="D:\Desktop\digital twin\.superpowers\sdd\paper-ppt-assets\fig_arctic_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585216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5742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ED3"/>
                </a:solidFill>
              </a:rPr>
              <a:t>Fig. 9 (p.9); source-facts.experimental_locations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Fig. 9 (p.9); source-facts.experimental_locations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误差与测绘精度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BMC 平均位置误差 11%，前座估计为 44%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470916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BMC 引导任务：误差为行驶距离的 11%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Frontseat 内部估计：44%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Fig. 8 上图差值均值/中位数/标准差：0.29 / 0.35 / 0.78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Fig. 8 下图：0.53 / 1.07 / 3.75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32588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6C893"/>
                </a:solidFill>
              </a:rPr>
              <a:t>11%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8978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8FC"/>
                </a:solidFill>
              </a:rPr>
              <a:t>BMC 平均位置误差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56B6F"/>
                </a:solidFill>
              </a:rPr>
              <a:t>44%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549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8FC"/>
                </a:solidFill>
              </a:rPr>
              <a:t>Frontseat 内部估计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1000" y="1920240"/>
            <a:ext cx="0" cy="1371600"/>
          </a:xfrm>
          <a:prstGeom prst="line">
            <a:avLst/>
          </a:prstGeom>
          <a:noFill/>
          <a:ln w="25400">
            <a:solidFill>
              <a:srgbClr val="A9B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source-facts.reported_comparisons; Fig. 8 (p.8)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结果讨论与局限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参考模型差异需谨慎解读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北极海底估计与 IBCAO 相差约 3 m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使用船载测深器日志进行验证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LiDAR、IBCAO 与声学数据的分辨率和测量条件不同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测绘结果依赖参考数据与声学/光学测量条件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6126480" cy="4892040"/>
          </a:xfrm>
          <a:prstGeom prst="roundRect">
            <a:avLst>
              <a:gd name="adj" fmla="val 1495"/>
            </a:avLst>
          </a:prstGeom>
          <a:solidFill>
            <a:srgbClr val="0B223C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pic>
        <p:nvPicPr>
          <p:cNvPr id="7" name="Image 0" descr="D:\Desktop\digital twin\.superpowers\sdd\paper-ppt-assets\fig_arctic_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585216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5742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ED3"/>
                </a:solidFill>
              </a:rPr>
              <a:t>source-facts.reported_comparisons; Fig. 9 (p.9)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source-facts.reported_comparisons; Fig. 9 (p.9)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对数字孪生的启示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将 BSD 状态、DVL-Odo 轨迹与声纳观测连接成可回放闭环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56692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应用推断（非论文直接结果）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记录导航状态、航点与时间戳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用 DVL/MSIS 与 LiDAR/IBCAO 对照校准环境模型，以误差指标触发航点更新或中止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&lt;15 W 预算支持长时部署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8016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102D4E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状态记录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5274" y="25603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63290" y="23774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4730" y="26060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误差校准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67044" y="25603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5060" y="23774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26060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航点更新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98814" y="25603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B45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26830" y="2377440"/>
            <a:ext cx="2594610" cy="749808"/>
          </a:xfrm>
          <a:prstGeom prst="roundRect">
            <a:avLst>
              <a:gd name="adj" fmla="val 9756"/>
            </a:avLst>
          </a:prstGeom>
          <a:solidFill>
            <a:srgbClr val="123C63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8270" y="2606040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C"/>
                </a:solidFill>
              </a:rPr>
              <a:t>回放闭环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4069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B45A"/>
                </a:solidFill>
              </a:rPr>
              <a:t>应用推断（非论文直接结果）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Application inference from system architecture, validation, and power report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结论与参考文献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59536"/>
            <a:ext cx="11064240" cy="0"/>
          </a:xfrm>
          <a:prstGeom prst="line">
            <a:avLst/>
          </a:prstGeom>
          <a:noFill/>
          <a:ln w="15240">
            <a:solidFill>
              <a:srgbClr val="2D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47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B45A"/>
                </a:solidFill>
              </a:rPr>
              <a:t>DVL-Odo + BMC 提升无人测绘的定位一致性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平均位置误差：11% 对 44%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Fig. 8 NOAA LiDAR 与 Fig. 9 IBCAO/冰面测绘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4F8FC"/>
                </a:solidFill>
              </a:rPr>
              <a:t>Phung et al., IEEE JOE 50(3), 2025；DOI 10.1109/JOE.2025.3538925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6126480" cy="4892040"/>
          </a:xfrm>
          <a:prstGeom prst="roundRect">
            <a:avLst>
              <a:gd name="adj" fmla="val 1495"/>
            </a:avLst>
          </a:prstGeom>
          <a:solidFill>
            <a:srgbClr val="0B223C">
              <a:alpha val="96000"/>
            </a:srgbClr>
          </a:solidFill>
          <a:ln w="12700">
            <a:solidFill>
              <a:srgbClr val="2B5B86"/>
            </a:solidFill>
            <a:prstDash val="solid"/>
          </a:ln>
        </p:spPr>
      </p:sp>
      <p:pic>
        <p:nvPicPr>
          <p:cNvPr id="7" name="Image 0" descr="D:\Desktop\digital twin\.superpowers\sdd\paper-ppt-assets\fig_bathy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585216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5742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ED3"/>
                </a:solidFill>
              </a:rPr>
              <a:t>source-facts.source; source-facts.reported_comparisons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625449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ED3"/>
                </a:solidFill>
              </a:rPr>
              <a:t>Source: source-facts.source; source-facts.reported_comparisons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B4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Academic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面向无人测绘的自主水下滑翔机</dc:title>
  <dc:subject>Underwater glider navigation paper review</dc:subject>
  <dc:creator>OpenAI</dc:creator>
  <cp:lastModifiedBy>OpenAI</cp:lastModifiedBy>
  <cp:revision>1</cp:revision>
  <dcterms:created xsi:type="dcterms:W3CDTF">2026-07-15T03:41:00Z</dcterms:created>
  <dcterms:modified xsi:type="dcterms:W3CDTF">2026-07-15T03:41:00Z</dcterms:modified>
</cp:coreProperties>
</file>